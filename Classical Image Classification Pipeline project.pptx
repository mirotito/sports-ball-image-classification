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0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7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90AD-C7F7-0F73-1BA0-1F141327BB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Classical Image Classification Pipeline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EABF19-7646-9803-2EDC-8AD74DBE5D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OpenCV + HOG + Color Histogram + SVM (RBF)</a:t>
            </a:r>
          </a:p>
          <a:p>
            <a:r>
              <a:rPr lang="en-US" dirty="0"/>
              <a:t>Prepared by : we bare bears  </a:t>
            </a:r>
          </a:p>
        </p:txBody>
      </p:sp>
    </p:spTree>
    <p:extLst>
      <p:ext uri="{BB962C8B-B14F-4D97-AF65-F5344CB8AC3E}">
        <p14:creationId xmlns:p14="http://schemas.microsoft.com/office/powerpoint/2010/main" val="199308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7AFB4-8F29-69D7-98A5-52F531C6D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FBBBD-663E-9485-FEFF-C0C4ECFD0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45024"/>
            <a:ext cx="9905999" cy="5029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goal of the project was to classify different types of balls using classical image processing and machine learning techniques.</a:t>
            </a:r>
          </a:p>
          <a:p>
            <a:r>
              <a:rPr lang="en-US" dirty="0"/>
              <a:t>Classes included:</a:t>
            </a:r>
          </a:p>
          <a:p>
            <a:r>
              <a:rPr lang="en-US" dirty="0"/>
              <a:t>Basketball </a:t>
            </a:r>
          </a:p>
          <a:p>
            <a:r>
              <a:rPr lang="en-US" dirty="0"/>
              <a:t>Football </a:t>
            </a:r>
          </a:p>
          <a:p>
            <a:r>
              <a:rPr lang="en-US" dirty="0"/>
              <a:t>Tennis Ball </a:t>
            </a:r>
          </a:p>
          <a:p>
            <a:r>
              <a:rPr lang="en-US" dirty="0"/>
              <a:t>Baseball </a:t>
            </a:r>
          </a:p>
          <a:p>
            <a:r>
              <a:rPr lang="en-US" dirty="0"/>
              <a:t>Golf Ball </a:t>
            </a:r>
          </a:p>
          <a:p>
            <a:r>
              <a:rPr lang="en-US" dirty="0"/>
              <a:t>American Football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737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6CA5-06D2-D9D4-F766-A363ADB0A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 2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B5A04-5508-B617-B0FA-748BF441D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may use any image processing functions, techniques, or feature extraction methods they find suitable to achieve the best possible detection and classification accuracy. </a:t>
            </a:r>
            <a:r>
              <a:rPr lang="de-DE" sz="2800" dirty="0"/>
              <a:t>Aber wie haben wir das geschafft?</a:t>
            </a:r>
            <a:r>
              <a:rPr lang="en-US" sz="3600" dirty="0"/>
              <a:t>!!!!!!!!!!!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126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3FDB-22C0-01D0-7293-CE12A9581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5473E-B77F-1734-E1C6-EDCE25681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50541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The dataset was organized into:</a:t>
            </a:r>
          </a:p>
          <a:p>
            <a:pPr marL="0" indent="0">
              <a:buNone/>
            </a:pPr>
            <a:r>
              <a:rPr lang="en-US" dirty="0"/>
              <a:t>train folder → used for training</a:t>
            </a:r>
          </a:p>
          <a:p>
            <a:pPr marL="0" indent="0">
              <a:buNone/>
            </a:pPr>
            <a:r>
              <a:rPr lang="en-US" dirty="0"/>
              <a:t>test folder → used for evaluation</a:t>
            </a:r>
          </a:p>
          <a:p>
            <a:pPr marL="0" indent="0">
              <a:buNone/>
            </a:pPr>
            <a:r>
              <a:rPr lang="en-US" dirty="0"/>
              <a:t>Each class had its own folder.</a:t>
            </a:r>
          </a:p>
          <a:p>
            <a:pPr marL="0" indent="0">
              <a:buNone/>
            </a:pPr>
            <a:r>
              <a:rPr lang="en-US" dirty="0"/>
              <a:t>Example: train/   basketball/   football/   tennis ball/</a:t>
            </a:r>
          </a:p>
          <a:p>
            <a:pPr marL="0" indent="0">
              <a:buNone/>
            </a:pPr>
            <a:r>
              <a:rPr lang="en-US" dirty="0"/>
              <a:t>The folder names became the class labels automatically.</a:t>
            </a:r>
          </a:p>
          <a:p>
            <a:pPr marL="0" indent="0">
              <a:buNone/>
            </a:pPr>
            <a:r>
              <a:rPr lang="en-US" dirty="0"/>
              <a:t>Which will make labeling classes much easier in the upcoming steps</a:t>
            </a:r>
          </a:p>
        </p:txBody>
      </p:sp>
    </p:spTree>
    <p:extLst>
      <p:ext uri="{BB962C8B-B14F-4D97-AF65-F5344CB8AC3E}">
        <p14:creationId xmlns:p14="http://schemas.microsoft.com/office/powerpoint/2010/main" val="2764103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C10CF-FAB9-85FF-6D35-7107E8B45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919" y="0"/>
            <a:ext cx="9905998" cy="1478570"/>
          </a:xfrm>
        </p:spPr>
        <p:txBody>
          <a:bodyPr/>
          <a:lstStyle/>
          <a:p>
            <a:r>
              <a:rPr lang="en-US" dirty="0"/>
              <a:t>Image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71A75-8C0F-8706-BE89-5FDC521E2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918" y="1192306"/>
            <a:ext cx="9905999" cy="555811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Each image went through several preprocessing steps:</a:t>
            </a:r>
          </a:p>
          <a:p>
            <a:pPr marL="457200" indent="-457200">
              <a:buAutoNum type="arabicParenR"/>
            </a:pPr>
            <a:r>
              <a:rPr lang="en-US" dirty="0"/>
              <a:t>Resize Images : All images were resized to: 256×256</a:t>
            </a:r>
          </a:p>
          <a:p>
            <a:pPr marL="0" indent="0">
              <a:buNone/>
            </a:pPr>
            <a:r>
              <a:rPr lang="en-US" dirty="0"/>
              <a:t>Purpose: Ensure all images have the same dimensions</a:t>
            </a:r>
          </a:p>
          <a:p>
            <a:pPr marL="0" indent="0">
              <a:buNone/>
            </a:pPr>
            <a:r>
              <a:rPr lang="en-US" dirty="0"/>
              <a:t>Reduce computational complexity</a:t>
            </a:r>
          </a:p>
          <a:p>
            <a:pPr marL="0" indent="0">
              <a:buNone/>
            </a:pPr>
            <a:r>
              <a:rPr lang="en-US" b="1" dirty="0"/>
              <a:t>2) Convert Color Space</a:t>
            </a:r>
          </a:p>
          <a:p>
            <a:pPr marL="0" indent="0">
              <a:buNone/>
            </a:pPr>
            <a:r>
              <a:rPr lang="en-US" dirty="0"/>
              <a:t>Images were converted from:</a:t>
            </a:r>
          </a:p>
          <a:p>
            <a:pPr marL="0" indent="0">
              <a:buNone/>
            </a:pPr>
            <a:r>
              <a:rPr lang="en-US" dirty="0"/>
              <a:t>BGR → HSV </a:t>
            </a:r>
          </a:p>
          <a:p>
            <a:pPr marL="0" indent="0">
              <a:buNone/>
            </a:pPr>
            <a:r>
              <a:rPr lang="en-US" dirty="0"/>
              <a:t>Purpose:</a:t>
            </a:r>
          </a:p>
          <a:p>
            <a:pPr marL="0" indent="0">
              <a:buNone/>
            </a:pPr>
            <a:r>
              <a:rPr lang="en-US" dirty="0"/>
              <a:t>HSV separates color and brightness </a:t>
            </a:r>
          </a:p>
          <a:p>
            <a:pPr marL="0" indent="0">
              <a:buNone/>
            </a:pPr>
            <a:r>
              <a:rPr lang="en-US" dirty="0"/>
              <a:t>More robust against lighting changes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19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3D72D-8E12-604F-302C-FDDD37DCC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3466-229D-A226-01C8-071DC3C1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919" y="0"/>
            <a:ext cx="9905998" cy="1478570"/>
          </a:xfrm>
        </p:spPr>
        <p:txBody>
          <a:bodyPr/>
          <a:lstStyle/>
          <a:p>
            <a:r>
              <a:rPr lang="en-US" dirty="0"/>
              <a:t>Image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1B5E2-D5AA-4FFC-4009-E8A329BD7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918" y="1192306"/>
            <a:ext cx="9905999" cy="55581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3)Gaussian Blur</a:t>
            </a:r>
          </a:p>
          <a:p>
            <a:pPr marL="0" indent="0">
              <a:buNone/>
            </a:pPr>
            <a:r>
              <a:rPr lang="en-US" dirty="0"/>
              <a:t>A Gaussian filter was applied:</a:t>
            </a:r>
          </a:p>
          <a:p>
            <a:r>
              <a:rPr lang="en-US" dirty="0"/>
              <a:t>5×5</a:t>
            </a:r>
          </a:p>
          <a:p>
            <a:pPr marL="0" indent="0">
              <a:buNone/>
            </a:pPr>
            <a:r>
              <a:rPr lang="en-US" dirty="0"/>
              <a:t>Purpose:</a:t>
            </a:r>
          </a:p>
          <a:p>
            <a:pPr marL="0" indent="0">
              <a:buNone/>
            </a:pPr>
            <a:r>
              <a:rPr lang="en-US" dirty="0"/>
              <a:t>Reduce image noise </a:t>
            </a:r>
          </a:p>
          <a:p>
            <a:pPr marL="0" indent="0">
              <a:buNone/>
            </a:pPr>
            <a:r>
              <a:rPr lang="en-US" dirty="0"/>
              <a:t>Smooth unwanted details </a:t>
            </a:r>
          </a:p>
          <a:p>
            <a:pPr marL="0" indent="0">
              <a:buNone/>
            </a:pPr>
            <a:r>
              <a:rPr lang="en-US" dirty="0"/>
              <a:t>Improve feature extraction quality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513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7AB08-BFC0-0EC0-AEF9-AC482AB95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/>
          <a:lstStyle/>
          <a:p>
            <a:r>
              <a:rPr lang="en-US" dirty="0"/>
              <a:t>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C8550-2715-45A3-5BED-BC6A23DAF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89212"/>
            <a:ext cx="9905999" cy="56567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system extracted two types of features:</a:t>
            </a:r>
          </a:p>
          <a:p>
            <a:pPr marL="0" indent="0">
              <a:buNone/>
            </a:pPr>
            <a:r>
              <a:rPr lang="en-US" dirty="0"/>
              <a:t>1) HOG Features (Histogram of Oriented Gradients)</a:t>
            </a:r>
          </a:p>
          <a:p>
            <a:pPr marL="0" indent="0">
              <a:buNone/>
            </a:pPr>
            <a:r>
              <a:rPr lang="en-US" dirty="0"/>
              <a:t>HOG extracts: edges ,gradients ,shapes &amp; textures.</a:t>
            </a:r>
          </a:p>
          <a:p>
            <a:pPr marL="0" indent="0">
              <a:buNone/>
            </a:pPr>
            <a:r>
              <a:rPr lang="en-US" dirty="0"/>
              <a:t>Process: Convert image to grayscale ,Detect edge directions, Build gradient histograms, Create numerical feature vector</a:t>
            </a:r>
          </a:p>
          <a:p>
            <a:pPr marL="0" indent="0">
              <a:buNone/>
            </a:pPr>
            <a:r>
              <a:rPr lang="en-US" dirty="0"/>
              <a:t>Purpose: Capture object shape and texture information</a:t>
            </a:r>
          </a:p>
          <a:p>
            <a:pPr marL="0" indent="0">
              <a:buNone/>
            </a:pPr>
            <a:r>
              <a:rPr lang="en-US" dirty="0"/>
              <a:t>2) Color Histogram Features</a:t>
            </a:r>
          </a:p>
          <a:p>
            <a:pPr marL="0" indent="0">
              <a:buNone/>
            </a:pPr>
            <a:r>
              <a:rPr lang="en-US" dirty="0"/>
              <a:t>Histograms were calculated for: Hue (H)Saturation (S)Value (V). </a:t>
            </a:r>
          </a:p>
          <a:p>
            <a:pPr marL="0" indent="0">
              <a:buNone/>
            </a:pPr>
            <a:r>
              <a:rPr lang="en-US" dirty="0"/>
              <a:t>Purpose: Capture color distribution of each ball</a:t>
            </a:r>
          </a:p>
          <a:p>
            <a:pPr marL="0" indent="0">
              <a:buNone/>
            </a:pPr>
            <a:r>
              <a:rPr lang="en-US" dirty="0"/>
              <a:t>Example: Basketball → orange , Tennis ball → green ,Baseball → white</a:t>
            </a:r>
          </a:p>
        </p:txBody>
      </p:sp>
    </p:spTree>
    <p:extLst>
      <p:ext uri="{BB962C8B-B14F-4D97-AF65-F5344CB8AC3E}">
        <p14:creationId xmlns:p14="http://schemas.microsoft.com/office/powerpoint/2010/main" val="3556966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C7CE0-5C96-0BD9-FC51-F72F9DD36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719" y="0"/>
            <a:ext cx="9905998" cy="1478570"/>
          </a:xfrm>
        </p:spPr>
        <p:txBody>
          <a:bodyPr/>
          <a:lstStyle/>
          <a:p>
            <a:r>
              <a:rPr lang="en-US" dirty="0"/>
              <a:t>Feature Combination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A4DA6-186A-B02D-D24B-DEF57817A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718" y="1258886"/>
            <a:ext cx="9905999" cy="55991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HOG features and HSV histogram features were combined into one large feature vector.</a:t>
            </a:r>
          </a:p>
          <a:p>
            <a:pPr marL="0" indent="0">
              <a:buNone/>
            </a:pPr>
            <a:r>
              <a:rPr lang="en-US" dirty="0"/>
              <a:t>Final feature vector:</a:t>
            </a:r>
          </a:p>
          <a:p>
            <a:pPr marL="0" indent="0">
              <a:buNone/>
            </a:pPr>
            <a:r>
              <a:rPr lang="en-US" dirty="0"/>
              <a:t>[HOG Features | Color Features]</a:t>
            </a:r>
          </a:p>
          <a:p>
            <a:pPr marL="0" indent="0">
              <a:buNone/>
            </a:pPr>
            <a:r>
              <a:rPr lang="en-US" dirty="0"/>
              <a:t>Purpose:</a:t>
            </a:r>
          </a:p>
          <a:p>
            <a:pPr marL="0" indent="0">
              <a:buNone/>
            </a:pPr>
            <a:r>
              <a:rPr lang="en-US" dirty="0"/>
              <a:t>Combine shape information with color information </a:t>
            </a:r>
          </a:p>
          <a:p>
            <a:pPr marL="0" indent="0">
              <a:buNone/>
            </a:pPr>
            <a:r>
              <a:rPr lang="en-US" dirty="0"/>
              <a:t>Improve classification accuracy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879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964BA-15C3-D797-EA51-F00695CE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05D74-7A8A-692A-456F-C70E02AAC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features were normalized using: Scikit-learn StandardScaler.</a:t>
            </a:r>
          </a:p>
          <a:p>
            <a:pPr marL="0" indent="0">
              <a:buNone/>
            </a:pPr>
            <a:r>
              <a:rPr lang="en-US" dirty="0"/>
              <a:t> Normalization formula: z=x−μ/</a:t>
            </a:r>
            <a:r>
              <a:rPr lang="el-GR" dirty="0"/>
              <a:t>σ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​Purpose:</a:t>
            </a:r>
          </a:p>
          <a:p>
            <a:pPr marL="0" indent="0">
              <a:buNone/>
            </a:pPr>
            <a:r>
              <a:rPr lang="en-US" dirty="0"/>
              <a:t>Scale all features equally </a:t>
            </a:r>
          </a:p>
          <a:p>
            <a:pPr marL="0" indent="0">
              <a:buNone/>
            </a:pPr>
            <a:r>
              <a:rPr lang="en-US" dirty="0"/>
              <a:t>Prevent large values from dominating training </a:t>
            </a:r>
          </a:p>
          <a:p>
            <a:pPr marL="0" indent="0">
              <a:buNone/>
            </a:pPr>
            <a:r>
              <a:rPr lang="en-US" dirty="0"/>
              <a:t>Improve SVM performance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55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25B65-651D-CB5B-1A5B-5B171C917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78" y="0"/>
            <a:ext cx="9905998" cy="1478570"/>
          </a:xfrm>
        </p:spPr>
        <p:txBody>
          <a:bodyPr/>
          <a:lstStyle/>
          <a:p>
            <a:r>
              <a:rPr lang="en-US" dirty="0"/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A75EB-19FE-CE28-96A5-0CAF89450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905" y="1246094"/>
            <a:ext cx="11308976" cy="5611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classifier used was:</a:t>
            </a:r>
          </a:p>
          <a:p>
            <a:pPr marL="0" indent="0">
              <a:buNone/>
            </a:pPr>
            <a:r>
              <a:rPr lang="en-US" dirty="0"/>
              <a:t>Support Vector Machine (SVM)</a:t>
            </a:r>
          </a:p>
          <a:p>
            <a:pPr marL="0" indent="0">
              <a:buNone/>
            </a:pPr>
            <a:r>
              <a:rPr lang="en-US" dirty="0"/>
              <a:t>with: RBF kernel</a:t>
            </a:r>
          </a:p>
          <a:p>
            <a:pPr marL="0" indent="0">
              <a:buNone/>
            </a:pPr>
            <a:r>
              <a:rPr lang="en-US" dirty="0"/>
              <a:t> C = 10, C controls how strict the model is about classifying the training data correctly.</a:t>
            </a:r>
          </a:p>
          <a:p>
            <a:pPr marL="0" indent="0">
              <a:buNone/>
            </a:pPr>
            <a:r>
              <a:rPr lang="en-US" dirty="0"/>
              <a:t>gamma = scale , was useful because it automatically adapted to the size and distribution of the features.</a:t>
            </a:r>
          </a:p>
          <a:p>
            <a:pPr marL="0" indent="0">
              <a:buNone/>
            </a:pPr>
            <a:r>
              <a:rPr lang="en-US" dirty="0"/>
              <a:t>Purpose: Learn boundaries between ball classes</a:t>
            </a:r>
          </a:p>
          <a:p>
            <a:pPr marL="0" indent="0">
              <a:buNone/>
            </a:pPr>
            <a:r>
              <a:rPr lang="en-US" dirty="0"/>
              <a:t>Handle nonlinear classification problems</a:t>
            </a:r>
          </a:p>
          <a:p>
            <a:pPr marL="0" indent="0">
              <a:buNone/>
            </a:pPr>
            <a:r>
              <a:rPr lang="en-US" dirty="0"/>
              <a:t>The model was trained using: extracted feature vectors</a:t>
            </a:r>
          </a:p>
          <a:p>
            <a:pPr marL="0" indent="0">
              <a:buNone/>
            </a:pPr>
            <a:r>
              <a:rPr lang="en-US" dirty="0"/>
              <a:t>corresponding class labels</a:t>
            </a:r>
          </a:p>
        </p:txBody>
      </p:sp>
    </p:spTree>
    <p:extLst>
      <p:ext uri="{BB962C8B-B14F-4D97-AF65-F5344CB8AC3E}">
        <p14:creationId xmlns:p14="http://schemas.microsoft.com/office/powerpoint/2010/main" val="4265499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E3FE-037A-6C3E-C727-1A633B90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38A43-76B6-97F7-AEB8-7BA930347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The trained SVM predicted labels for unseen test images.</a:t>
            </a:r>
          </a:p>
          <a:p>
            <a:pPr marL="0" indent="0">
              <a:buNone/>
            </a:pPr>
            <a:r>
              <a:rPr lang="en-US" sz="3600" dirty="0"/>
              <a:t>Predictions were compared with actual labels to evaluate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10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CC33F-00D1-09C2-759A-BA14408C1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437" y="0"/>
            <a:ext cx="9905998" cy="1478570"/>
          </a:xfrm>
        </p:spPr>
        <p:txBody>
          <a:bodyPr/>
          <a:lstStyle/>
          <a:p>
            <a:r>
              <a:rPr lang="en-US" dirty="0"/>
              <a:t>Performance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75FDE-7F29-924E-61E8-A3EE3711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250576"/>
            <a:ext cx="9905999" cy="54953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dirty="0"/>
              <a:t>Several evaluation metrics were used:</a:t>
            </a:r>
          </a:p>
          <a:p>
            <a:pPr marL="0" indent="0">
              <a:buNone/>
            </a:pPr>
            <a:r>
              <a:rPr lang="en-US" sz="3600" dirty="0"/>
              <a:t>Accuracy Measures overall prediction correctness:</a:t>
            </a:r>
          </a:p>
          <a:p>
            <a:pPr marL="0" indent="0">
              <a:buNone/>
            </a:pPr>
            <a:r>
              <a:rPr lang="en-US" sz="3600" dirty="0"/>
              <a:t>Accuracy= Correct Predictions​/Total prediction</a:t>
            </a:r>
          </a:p>
          <a:p>
            <a:pPr marL="0" indent="0">
              <a:buNone/>
            </a:pPr>
            <a:r>
              <a:rPr lang="en-US" sz="3600" b="1" dirty="0"/>
              <a:t>Classification Report</a:t>
            </a:r>
          </a:p>
          <a:p>
            <a:pPr marL="0" indent="0">
              <a:buNone/>
            </a:pPr>
            <a:r>
              <a:rPr lang="en-US" sz="3600" dirty="0"/>
              <a:t>Included:</a:t>
            </a:r>
          </a:p>
          <a:p>
            <a:r>
              <a:rPr lang="en-US" sz="3600" dirty="0"/>
              <a:t>Precision </a:t>
            </a:r>
          </a:p>
          <a:p>
            <a:r>
              <a:rPr lang="en-US" sz="3600" dirty="0"/>
              <a:t>Recall </a:t>
            </a:r>
          </a:p>
          <a:p>
            <a:r>
              <a:rPr lang="en-US" sz="3600" dirty="0"/>
              <a:t>F1-score for each class.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37D21-8A9F-00E4-3572-3E5AAF78AB3A}"/>
              </a:ext>
            </a:extLst>
          </p:cNvPr>
          <p:cNvSpPr txBox="1"/>
          <p:nvPr/>
        </p:nvSpPr>
        <p:spPr>
          <a:xfrm>
            <a:off x="7997638" y="3929707"/>
            <a:ext cx="610272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Confusion Matrix</a:t>
            </a:r>
          </a:p>
          <a:p>
            <a:pPr>
              <a:buNone/>
            </a:pPr>
            <a:r>
              <a:rPr lang="en-US" sz="2800" dirty="0"/>
              <a:t>Visualized:</a:t>
            </a:r>
          </a:p>
          <a:p>
            <a:r>
              <a:rPr lang="en-US" sz="2800" dirty="0"/>
              <a:t>correct predictions </a:t>
            </a:r>
          </a:p>
          <a:p>
            <a:r>
              <a:rPr lang="en-US" sz="2800" dirty="0"/>
              <a:t>classification errors </a:t>
            </a:r>
          </a:p>
          <a:p>
            <a:pPr>
              <a:buNone/>
            </a:pPr>
            <a:r>
              <a:rPr lang="en-US" sz="2800" dirty="0"/>
              <a:t>using a heatmap.</a:t>
            </a:r>
          </a:p>
        </p:txBody>
      </p:sp>
    </p:spTree>
    <p:extLst>
      <p:ext uri="{BB962C8B-B14F-4D97-AF65-F5344CB8AC3E}">
        <p14:creationId xmlns:p14="http://schemas.microsoft.com/office/powerpoint/2010/main" val="1387284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69FC7-A10F-D9A8-EC98-00ED5555F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CA9BB-366A-7650-C389-998456369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39153"/>
            <a:ext cx="9905999" cy="5078506"/>
          </a:xfrm>
        </p:spPr>
        <p:txBody>
          <a:bodyPr/>
          <a:lstStyle/>
          <a:p>
            <a:pPr>
              <a:buNone/>
            </a:pPr>
            <a:r>
              <a:rPr lang="en-US" sz="3600" dirty="0"/>
              <a:t>The system displayed:</a:t>
            </a:r>
          </a:p>
          <a:p>
            <a:pPr marL="0" indent="0">
              <a:buNone/>
            </a:pPr>
            <a:r>
              <a:rPr lang="en-US" sz="3600" dirty="0"/>
              <a:t>test image </a:t>
            </a:r>
          </a:p>
          <a:p>
            <a:pPr marL="0" indent="0">
              <a:buNone/>
            </a:pPr>
            <a:r>
              <a:rPr lang="en-US" sz="3600" dirty="0"/>
              <a:t>predicted label </a:t>
            </a:r>
          </a:p>
          <a:p>
            <a:pPr marL="0" indent="0">
              <a:buNone/>
            </a:pPr>
            <a:r>
              <a:rPr lang="en-US" sz="3600" dirty="0"/>
              <a:t>actual label </a:t>
            </a:r>
          </a:p>
          <a:p>
            <a:pPr>
              <a:buNone/>
            </a:pPr>
            <a:r>
              <a:rPr lang="en-US" sz="3600" dirty="0"/>
              <a:t>to visually inspect model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338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ED6E50-DBD4-FBE0-0191-1486FE89CFFD}"/>
              </a:ext>
            </a:extLst>
          </p:cNvPr>
          <p:cNvSpPr txBox="1"/>
          <p:nvPr/>
        </p:nvSpPr>
        <p:spPr>
          <a:xfrm>
            <a:off x="1259541" y="929541"/>
            <a:ext cx="6576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  Dataset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B3D451-4A0D-00E2-DDD5-9868A52E55A4}"/>
              </a:ext>
            </a:extLst>
          </p:cNvPr>
          <p:cNvSpPr txBox="1"/>
          <p:nvPr/>
        </p:nvSpPr>
        <p:spPr>
          <a:xfrm>
            <a:off x="2392456" y="223228"/>
            <a:ext cx="61027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/>
              <a:t>Final Pipeline Overview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E3B3F2-B4A7-81AD-C19C-F6FBFECA69D2}"/>
              </a:ext>
            </a:extLst>
          </p:cNvPr>
          <p:cNvSpPr txBox="1"/>
          <p:nvPr/>
        </p:nvSpPr>
        <p:spPr>
          <a:xfrm>
            <a:off x="3740527" y="968493"/>
            <a:ext cx="61027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Image Loading</a:t>
            </a:r>
            <a:br>
              <a:rPr lang="en-US" b="1" dirty="0"/>
            </a:br>
            <a:endParaRPr lang="en-US" b="1" dirty="0"/>
          </a:p>
          <a:p>
            <a:r>
              <a:rPr lang="en-US" b="1" dirty="0"/>
              <a:t>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0F2193-D14D-87E4-1CF9-3B003409D1A4}"/>
              </a:ext>
            </a:extLst>
          </p:cNvPr>
          <p:cNvCxnSpPr>
            <a:cxnSpLocks/>
          </p:cNvCxnSpPr>
          <p:nvPr/>
        </p:nvCxnSpPr>
        <p:spPr>
          <a:xfrm>
            <a:off x="5384426" y="1193648"/>
            <a:ext cx="140746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E3CD856-AE7C-B3B0-0646-35630FE5E0D9}"/>
              </a:ext>
            </a:extLst>
          </p:cNvPr>
          <p:cNvSpPr txBox="1"/>
          <p:nvPr/>
        </p:nvSpPr>
        <p:spPr>
          <a:xfrm>
            <a:off x="6832787" y="957337"/>
            <a:ext cx="6102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Resize Images</a:t>
            </a:r>
            <a:br>
              <a:rPr lang="en-US" b="1" dirty="0"/>
            </a:br>
            <a:endParaRPr lang="en-US" b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284B13-4A74-6CDC-156A-DDA6F6C73B10}"/>
              </a:ext>
            </a:extLst>
          </p:cNvPr>
          <p:cNvCxnSpPr/>
          <p:nvPr/>
        </p:nvCxnSpPr>
        <p:spPr>
          <a:xfrm>
            <a:off x="8395448" y="1175717"/>
            <a:ext cx="114748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59DC989-D82A-816B-F15C-CC1D3E3AEBFC}"/>
              </a:ext>
            </a:extLst>
          </p:cNvPr>
          <p:cNvSpPr txBox="1"/>
          <p:nvPr/>
        </p:nvSpPr>
        <p:spPr>
          <a:xfrm>
            <a:off x="9549653" y="972920"/>
            <a:ext cx="6864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HSV Conversion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AC9FF8-8762-A95B-37DA-9FA0F8E59BA1}"/>
              </a:ext>
            </a:extLst>
          </p:cNvPr>
          <p:cNvSpPr txBox="1"/>
          <p:nvPr/>
        </p:nvSpPr>
        <p:spPr>
          <a:xfrm>
            <a:off x="778272" y="1970414"/>
            <a:ext cx="2766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         Gaussian Blur</a:t>
            </a:r>
            <a:br>
              <a:rPr lang="en-US" b="1" dirty="0"/>
            </a:br>
            <a:endParaRPr lang="en-US" b="1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287E5CC-DC97-E92F-BFC9-D9FE2D7901A7}"/>
              </a:ext>
            </a:extLst>
          </p:cNvPr>
          <p:cNvCxnSpPr>
            <a:cxnSpLocks/>
          </p:cNvCxnSpPr>
          <p:nvPr/>
        </p:nvCxnSpPr>
        <p:spPr>
          <a:xfrm>
            <a:off x="2842933" y="2160495"/>
            <a:ext cx="85052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3B2755B-DEC4-A8F8-A194-2FE01AC84A29}"/>
              </a:ext>
            </a:extLst>
          </p:cNvPr>
          <p:cNvSpPr txBox="1"/>
          <p:nvPr/>
        </p:nvSpPr>
        <p:spPr>
          <a:xfrm>
            <a:off x="3693459" y="1956206"/>
            <a:ext cx="29908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HOG Feature Extraction</a:t>
            </a:r>
            <a:br>
              <a:rPr lang="en-US" dirty="0"/>
            </a:br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9EE1B7F-8BC8-59F7-3FE1-8892E9496504}"/>
              </a:ext>
            </a:extLst>
          </p:cNvPr>
          <p:cNvCxnSpPr>
            <a:cxnSpLocks/>
          </p:cNvCxnSpPr>
          <p:nvPr/>
        </p:nvCxnSpPr>
        <p:spPr>
          <a:xfrm>
            <a:off x="2529166" y="3666565"/>
            <a:ext cx="150611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2E84962-9A1E-4092-8CDE-E3F0FDE725A4}"/>
              </a:ext>
            </a:extLst>
          </p:cNvPr>
          <p:cNvSpPr txBox="1"/>
          <p:nvPr/>
        </p:nvSpPr>
        <p:spPr>
          <a:xfrm>
            <a:off x="6832787" y="1970414"/>
            <a:ext cx="9525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HSV Color Histogram Extraction</a:t>
            </a:r>
            <a:br>
              <a:rPr lang="en-US" dirty="0"/>
            </a:b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E84E0A-2A44-0CF6-380B-1A363B0F076E}"/>
              </a:ext>
            </a:extLst>
          </p:cNvPr>
          <p:cNvSpPr txBox="1"/>
          <p:nvPr/>
        </p:nvSpPr>
        <p:spPr>
          <a:xfrm>
            <a:off x="1365996" y="2806826"/>
            <a:ext cx="9525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Feature Combination</a:t>
            </a:r>
            <a:br>
              <a:rPr lang="en-US" dirty="0"/>
            </a:br>
            <a:endParaRPr lang="en-US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8AA9536-1CB9-F818-39D0-963063865469}"/>
              </a:ext>
            </a:extLst>
          </p:cNvPr>
          <p:cNvCxnSpPr>
            <a:cxnSpLocks/>
          </p:cNvCxnSpPr>
          <p:nvPr/>
        </p:nvCxnSpPr>
        <p:spPr>
          <a:xfrm>
            <a:off x="3415505" y="3024697"/>
            <a:ext cx="32502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15BDC98-B689-D02F-7C5B-CCA1D81251CA}"/>
              </a:ext>
            </a:extLst>
          </p:cNvPr>
          <p:cNvSpPr txBox="1"/>
          <p:nvPr/>
        </p:nvSpPr>
        <p:spPr>
          <a:xfrm>
            <a:off x="3697988" y="2841700"/>
            <a:ext cx="3180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Feature Normalization</a:t>
            </a:r>
            <a:br>
              <a:rPr lang="en-US" dirty="0"/>
            </a:br>
            <a:endParaRPr lang="en-US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A1641EB-BFAA-F0B4-20AB-7F1053D50D32}"/>
              </a:ext>
            </a:extLst>
          </p:cNvPr>
          <p:cNvCxnSpPr>
            <a:cxnSpLocks/>
          </p:cNvCxnSpPr>
          <p:nvPr/>
        </p:nvCxnSpPr>
        <p:spPr>
          <a:xfrm>
            <a:off x="5909982" y="3032771"/>
            <a:ext cx="968283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BA3B9D6-5914-1C60-4CA7-AEC8F18435FC}"/>
              </a:ext>
            </a:extLst>
          </p:cNvPr>
          <p:cNvSpPr txBox="1"/>
          <p:nvPr/>
        </p:nvSpPr>
        <p:spPr>
          <a:xfrm>
            <a:off x="6832787" y="2840031"/>
            <a:ext cx="1859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SVM Training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B5F11F-3844-6624-65E0-8B4A18B6E65A}"/>
              </a:ext>
            </a:extLst>
          </p:cNvPr>
          <p:cNvSpPr txBox="1"/>
          <p:nvPr/>
        </p:nvSpPr>
        <p:spPr>
          <a:xfrm>
            <a:off x="1365996" y="3449748"/>
            <a:ext cx="1668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Prediction</a:t>
            </a:r>
          </a:p>
        </p:txBody>
      </p:sp>
      <p:sp>
        <p:nvSpPr>
          <p:cNvPr id="55" name="Rectangle 1">
            <a:extLst>
              <a:ext uri="{FF2B5EF4-FFF2-40B4-BE49-F238E27FC236}">
                <a16:creationId xmlns:a16="http://schemas.microsoft.com/office/drawing/2014/main" id="{219CFF02-D58A-6AEB-A1AF-25F371151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723" y="3488031"/>
            <a:ext cx="2680542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Accuracy &amp; Confusion Matrix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8F595CE-7CD9-B772-1908-1AD18168FDB6}"/>
              </a:ext>
            </a:extLst>
          </p:cNvPr>
          <p:cNvCxnSpPr>
            <a:cxnSpLocks/>
          </p:cNvCxnSpPr>
          <p:nvPr/>
        </p:nvCxnSpPr>
        <p:spPr>
          <a:xfrm>
            <a:off x="2528047" y="1193648"/>
            <a:ext cx="10668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E6262D0-B6C8-F7FC-15A2-1F82925247C9}"/>
              </a:ext>
            </a:extLst>
          </p:cNvPr>
          <p:cNvCxnSpPr>
            <a:cxnSpLocks/>
          </p:cNvCxnSpPr>
          <p:nvPr/>
        </p:nvCxnSpPr>
        <p:spPr>
          <a:xfrm>
            <a:off x="6096000" y="2160495"/>
            <a:ext cx="73678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729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31433-17AC-617D-4CF8-D16EF3F7C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754" y="35812"/>
            <a:ext cx="4170175" cy="1048917"/>
          </a:xfrm>
        </p:spPr>
        <p:txBody>
          <a:bodyPr/>
          <a:lstStyle/>
          <a:p>
            <a:r>
              <a:rPr lang="en-US" sz="4000" b="1" dirty="0"/>
              <a:t>Results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4C972E-FB24-7AD4-79C8-1B39E34AEF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060" y="1389934"/>
            <a:ext cx="4534293" cy="43071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6AC6F3-A1A0-8A60-2EA0-2DE082895F2F}"/>
              </a:ext>
            </a:extLst>
          </p:cNvPr>
          <p:cNvSpPr txBox="1"/>
          <p:nvPr/>
        </p:nvSpPr>
        <p:spPr>
          <a:xfrm>
            <a:off x="5765353" y="1351508"/>
            <a:ext cx="635261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Precision → How many predicted images were actually correct.</a:t>
            </a:r>
          </a:p>
          <a:p>
            <a:r>
              <a:rPr lang="en-US" sz="2400" dirty="0"/>
              <a:t> Recall → How many real images of a class were successfully found.</a:t>
            </a:r>
          </a:p>
          <a:p>
            <a:r>
              <a:rPr lang="en-US" sz="2400" dirty="0"/>
              <a:t>F1-score → Combined measure of precision and recall.</a:t>
            </a:r>
          </a:p>
          <a:p>
            <a:r>
              <a:rPr lang="en-US" sz="2400" dirty="0"/>
              <a:t>Higher F1-score means better overall performance for that class.</a:t>
            </a:r>
          </a:p>
          <a:p>
            <a:r>
              <a:rPr lang="en-US" sz="2400" dirty="0"/>
              <a:t>Support → Number of test images in each class.</a:t>
            </a:r>
          </a:p>
          <a:p>
            <a:r>
              <a:rPr lang="en-US" sz="2400" dirty="0"/>
              <a:t>Accuracy → Overall percentage of correctly classified images across all classes.</a:t>
            </a:r>
          </a:p>
        </p:txBody>
      </p:sp>
    </p:spTree>
    <p:extLst>
      <p:ext uri="{BB962C8B-B14F-4D97-AF65-F5344CB8AC3E}">
        <p14:creationId xmlns:p14="http://schemas.microsoft.com/office/powerpoint/2010/main" val="2604121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2F483-8358-816E-5370-BCCAE727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71A4-7370-77E8-A16B-6E83EF46B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754" y="35812"/>
            <a:ext cx="4170175" cy="1048917"/>
          </a:xfrm>
        </p:spPr>
        <p:txBody>
          <a:bodyPr/>
          <a:lstStyle/>
          <a:p>
            <a:r>
              <a:rPr lang="en-US" sz="4000" b="1" dirty="0"/>
              <a:t>Results</a:t>
            </a:r>
            <a:r>
              <a:rPr lang="en-US" dirty="0"/>
              <a:t>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E65B403-F76B-FD9A-3774-F2BED53C7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260" y="798326"/>
            <a:ext cx="5701109" cy="4965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2724F4-D400-5B3E-A345-65432F4819C1}"/>
              </a:ext>
            </a:extLst>
          </p:cNvPr>
          <p:cNvSpPr txBox="1"/>
          <p:nvPr/>
        </p:nvSpPr>
        <p:spPr>
          <a:xfrm>
            <a:off x="6701117" y="451933"/>
            <a:ext cx="538330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The confusion matrix shows the model’s correct and incorrect predictions for each class.</a:t>
            </a:r>
          </a:p>
          <a:p>
            <a:r>
              <a:rPr lang="en-US" dirty="0"/>
              <a:t> Most correct predictions are on the diagonal (dark blue boxes).</a:t>
            </a:r>
          </a:p>
          <a:p>
            <a:endParaRPr lang="en-US" dirty="0"/>
          </a:p>
          <a:p>
            <a:r>
              <a:rPr lang="en-US" dirty="0"/>
              <a:t>golf ball performed best with 43 correct predictions and very few mistakes.</a:t>
            </a:r>
          </a:p>
          <a:p>
            <a:endParaRPr lang="en-US" dirty="0"/>
          </a:p>
          <a:p>
            <a:r>
              <a:rPr lang="en-US" dirty="0"/>
              <a:t>American football` was classified correctly 41 times, but sometimes confused with `football`.</a:t>
            </a:r>
          </a:p>
          <a:p>
            <a:endParaRPr lang="en-US" dirty="0"/>
          </a:p>
          <a:p>
            <a:r>
              <a:rPr lang="en-US" dirty="0"/>
              <a:t>Football also performed well with 39 correct predictions.</a:t>
            </a:r>
          </a:p>
          <a:p>
            <a:endParaRPr lang="en-US" dirty="0"/>
          </a:p>
          <a:p>
            <a:r>
              <a:rPr lang="en-US" dirty="0"/>
              <a:t>Basketball had more classification errors, showing it was harder for the model to recognize.</a:t>
            </a:r>
          </a:p>
          <a:p>
            <a:endParaRPr lang="en-US" dirty="0"/>
          </a:p>
          <a:p>
            <a:r>
              <a:rPr lang="en-US" dirty="0"/>
              <a:t> `baseball` and `</a:t>
            </a:r>
            <a:r>
              <a:rPr lang="en-US" dirty="0" err="1"/>
              <a:t>tennis_ball</a:t>
            </a:r>
            <a:r>
              <a:rPr lang="en-US" dirty="0"/>
              <a:t>` were sometimes confused with other ball types because of visual similarity.</a:t>
            </a:r>
          </a:p>
          <a:p>
            <a:endParaRPr lang="en-US" dirty="0"/>
          </a:p>
          <a:p>
            <a:r>
              <a:rPr lang="en-US" dirty="0"/>
              <a:t>Overall, the matrix shows good performance with some confusion between similar-looking sports balls.</a:t>
            </a:r>
          </a:p>
        </p:txBody>
      </p:sp>
    </p:spTree>
    <p:extLst>
      <p:ext uri="{BB962C8B-B14F-4D97-AF65-F5344CB8AC3E}">
        <p14:creationId xmlns:p14="http://schemas.microsoft.com/office/powerpoint/2010/main" val="76821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D7B9A-D772-6486-79E3-CD20C43C6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E5A4C-3E59-2C12-E993-6816B72AE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047" y="2097088"/>
            <a:ext cx="9905999" cy="436198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 dirty="0"/>
              <a:t>This milestone demonstrated a complete classical computer vision pipeline using:</a:t>
            </a:r>
          </a:p>
          <a:p>
            <a:pPr marL="0" indent="0">
              <a:buNone/>
            </a:pPr>
            <a:r>
              <a:rPr lang="en-US" sz="3600" dirty="0"/>
              <a:t>OpenCV </a:t>
            </a:r>
          </a:p>
          <a:p>
            <a:pPr marL="0" indent="0">
              <a:buNone/>
            </a:pPr>
            <a:r>
              <a:rPr lang="en-US" sz="3600" dirty="0"/>
              <a:t>HOG feature extraction </a:t>
            </a:r>
          </a:p>
          <a:p>
            <a:pPr marL="0" indent="0">
              <a:buNone/>
            </a:pPr>
            <a:r>
              <a:rPr lang="en-US" sz="3600" dirty="0"/>
              <a:t>HSV color histograms </a:t>
            </a:r>
          </a:p>
          <a:p>
            <a:pPr marL="0" indent="0">
              <a:buNone/>
            </a:pPr>
            <a:r>
              <a:rPr lang="en-US" sz="3600" dirty="0"/>
              <a:t>SVM classification </a:t>
            </a:r>
          </a:p>
          <a:p>
            <a:pPr marL="0" indent="0">
              <a:buNone/>
            </a:pPr>
            <a:r>
              <a:rPr lang="en-US" sz="3600" dirty="0"/>
              <a:t>The combination of shape and color features allowed the model to successfully classify different types of balls with high accuracy.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005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6415D-ABE2-9461-CE76-6ACE3E61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74F7B-CBC6-84BF-2619-5B9BC04B5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Milestone Goal</a:t>
            </a:r>
          </a:p>
          <a:p>
            <a:pPr marL="0" indent="0">
              <a:buNone/>
            </a:pPr>
            <a:r>
              <a:rPr lang="en-US" dirty="0"/>
              <a:t>Build an image classification model </a:t>
            </a:r>
            <a:r>
              <a:rPr lang="en-US" b="1" dirty="0"/>
              <a:t>without using pretrained models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Create a CNN completely from scratch </a:t>
            </a:r>
          </a:p>
          <a:p>
            <a:pPr marL="0" indent="0">
              <a:buNone/>
            </a:pPr>
            <a:r>
              <a:rPr lang="en-US" dirty="0"/>
              <a:t>Classify ball images into </a:t>
            </a:r>
            <a:r>
              <a:rPr lang="en-US" b="1" dirty="0"/>
              <a:t>6 categories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58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94D3D-5D91-7898-E4AB-CD639FCB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Preparation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0D622-B4DD-517B-EBE9-C25856D9B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683" y="1581616"/>
            <a:ext cx="4645306" cy="35417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Dataset divided into:</a:t>
            </a:r>
          </a:p>
          <a:p>
            <a:pPr marL="0" indent="0">
              <a:buNone/>
            </a:pPr>
            <a:r>
              <a:rPr lang="en-US" dirty="0"/>
              <a:t>Training set</a:t>
            </a:r>
          </a:p>
          <a:p>
            <a:pPr marL="0" indent="0">
              <a:buNone/>
            </a:pPr>
            <a:r>
              <a:rPr lang="en-US" dirty="0"/>
              <a:t>Testing set</a:t>
            </a:r>
          </a:p>
          <a:p>
            <a:pPr marL="0" indent="0">
              <a:buNone/>
            </a:pPr>
            <a:r>
              <a:rPr lang="en-US" dirty="0"/>
              <a:t>Images organized into folders by class</a:t>
            </a:r>
          </a:p>
          <a:p>
            <a:pPr marL="0" indent="0">
              <a:buNone/>
            </a:pPr>
            <a:r>
              <a:rPr lang="en-US" dirty="0"/>
              <a:t>All images resized to:</a:t>
            </a:r>
          </a:p>
          <a:p>
            <a:pPr marL="0" indent="0">
              <a:buNone/>
            </a:pPr>
            <a:r>
              <a:rPr lang="en-US" dirty="0"/>
              <a:t>224 × 224</a:t>
            </a:r>
          </a:p>
          <a:p>
            <a:pPr marL="0" indent="0">
              <a:buNone/>
            </a:pPr>
            <a:r>
              <a:rPr lang="en-US" dirty="0"/>
              <a:t>Batch size set to: 32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5DE007-FAA7-FBEE-E708-AA4E54A06EF4}"/>
              </a:ext>
            </a:extLst>
          </p:cNvPr>
          <p:cNvSpPr txBox="1"/>
          <p:nvPr/>
        </p:nvSpPr>
        <p:spPr>
          <a:xfrm>
            <a:off x="6664138" y="1644313"/>
            <a:ext cx="61027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Applied preprocessing before training:</a:t>
            </a:r>
          </a:p>
          <a:p>
            <a:r>
              <a:rPr lang="en-US" sz="2400" dirty="0"/>
              <a:t>Pixel normalization (rescale = 1/255)</a:t>
            </a:r>
          </a:p>
          <a:p>
            <a:r>
              <a:rPr lang="en-US" sz="2400" dirty="0"/>
              <a:t>Rotation augmentation</a:t>
            </a:r>
          </a:p>
          <a:p>
            <a:r>
              <a:rPr lang="en-US" sz="2400" dirty="0"/>
              <a:t>Zoom augmentation</a:t>
            </a:r>
          </a:p>
          <a:p>
            <a:r>
              <a:rPr lang="en-US" sz="2400" dirty="0"/>
              <a:t>Horizontal flipping</a:t>
            </a:r>
          </a:p>
          <a:p>
            <a:r>
              <a:rPr lang="en-US" sz="2400" dirty="0"/>
              <a:t>Purpose:</a:t>
            </a:r>
          </a:p>
          <a:p>
            <a:r>
              <a:rPr lang="en-US" sz="2400" dirty="0"/>
              <a:t>increase dataset diversity</a:t>
            </a:r>
          </a:p>
          <a:p>
            <a:r>
              <a:rPr lang="en-US" sz="2400" dirty="0"/>
              <a:t>improve generalization</a:t>
            </a:r>
          </a:p>
          <a:p>
            <a:r>
              <a:rPr lang="en-US" sz="2400" dirty="0"/>
              <a:t>reduce overfitting</a:t>
            </a:r>
          </a:p>
        </p:txBody>
      </p:sp>
    </p:spTree>
    <p:extLst>
      <p:ext uri="{BB962C8B-B14F-4D97-AF65-F5344CB8AC3E}">
        <p14:creationId xmlns:p14="http://schemas.microsoft.com/office/powerpoint/2010/main" val="2099117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B5A90-60A7-4A8E-140C-2933B5607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126" y="-437178"/>
            <a:ext cx="9905998" cy="1478570"/>
          </a:xfrm>
        </p:spPr>
        <p:txBody>
          <a:bodyPr/>
          <a:lstStyle/>
          <a:p>
            <a:r>
              <a:rPr lang="en-US" dirty="0"/>
              <a:t>CNN Model Architecture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808DE0-FD2E-4A0F-60A1-C2A8F7A0AB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2666031"/>
              </p:ext>
            </p:extLst>
          </p:nvPr>
        </p:nvGraphicFramePr>
        <p:xfrm>
          <a:off x="914400" y="478643"/>
          <a:ext cx="10683241" cy="6379357"/>
        </p:xfrm>
        <a:graphic>
          <a:graphicData uri="http://schemas.openxmlformats.org/drawingml/2006/table">
            <a:tbl>
              <a:tblPr/>
              <a:tblGrid>
                <a:gridCol w="857862">
                  <a:extLst>
                    <a:ext uri="{9D8B030D-6E8A-4147-A177-3AD203B41FA5}">
                      <a16:colId xmlns:a16="http://schemas.microsoft.com/office/drawing/2014/main" val="3487439374"/>
                    </a:ext>
                  </a:extLst>
                </a:gridCol>
                <a:gridCol w="2573586">
                  <a:extLst>
                    <a:ext uri="{9D8B030D-6E8A-4147-A177-3AD203B41FA5}">
                      <a16:colId xmlns:a16="http://schemas.microsoft.com/office/drawing/2014/main" val="1043805529"/>
                    </a:ext>
                  </a:extLst>
                </a:gridCol>
                <a:gridCol w="3025393">
                  <a:extLst>
                    <a:ext uri="{9D8B030D-6E8A-4147-A177-3AD203B41FA5}">
                      <a16:colId xmlns:a16="http://schemas.microsoft.com/office/drawing/2014/main" val="372480690"/>
                    </a:ext>
                  </a:extLst>
                </a:gridCol>
                <a:gridCol w="4226400">
                  <a:extLst>
                    <a:ext uri="{9D8B030D-6E8A-4147-A177-3AD203B41FA5}">
                      <a16:colId xmlns:a16="http://schemas.microsoft.com/office/drawing/2014/main" val="2789440641"/>
                    </a:ext>
                  </a:extLst>
                </a:gridCol>
              </a:tblGrid>
              <a:tr h="23054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Step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Layer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Output / Function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Purpose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511021"/>
                  </a:ext>
                </a:extLst>
              </a:tr>
              <a:tr h="3293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1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Input Layer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224 × 224 × 3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Input RGB image enters the CNN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011877"/>
                  </a:ext>
                </a:extLst>
              </a:tr>
              <a:tr h="3293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2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Conv2D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32 filters, 3×3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Detect basic features like edges and corners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168507"/>
                  </a:ext>
                </a:extLst>
              </a:tr>
              <a:tr h="3293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3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BatchNormalization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—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Stabilizes training and improves convergence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421864"/>
                  </a:ext>
                </a:extLst>
              </a:tr>
              <a:tr h="4719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4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MaxPooling2D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2×2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Reduces image size while keeping important features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028578"/>
                  </a:ext>
                </a:extLst>
              </a:tr>
              <a:tr h="3293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5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Conv2D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64 filters, 3×3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Learns more detailed shapes and patterns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303319"/>
                  </a:ext>
                </a:extLst>
              </a:tr>
              <a:tr h="23054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6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BatchNormalization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—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Normalizes activations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744248"/>
                  </a:ext>
                </a:extLst>
              </a:tr>
              <a:tr h="3293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7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MaxPooling2D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2×2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Downsamples feature maps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088969"/>
                  </a:ext>
                </a:extLst>
              </a:tr>
              <a:tr h="3293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8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Conv2D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128 filters, 3×3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Learns more complex object features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125777"/>
                  </a:ext>
                </a:extLst>
              </a:tr>
              <a:tr h="3293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9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BatchNormalization</a:t>
                      </a:r>
                      <a:endParaRPr lang="en-US" sz="1400" b="1" dirty="0"/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—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Improves training stability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905562"/>
                  </a:ext>
                </a:extLst>
              </a:tr>
              <a:tr h="3293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10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MaxPooling2D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2×2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Further feature reduction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015599"/>
                  </a:ext>
                </a:extLst>
              </a:tr>
              <a:tr h="3293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11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Conv2D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256 filters, 3×3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Captures high-level visual features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810793"/>
                  </a:ext>
                </a:extLst>
              </a:tr>
              <a:tr h="23054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12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BatchNormalization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—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Keeps learning stable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339719"/>
                  </a:ext>
                </a:extLst>
              </a:tr>
              <a:tr h="3293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13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MaxPooling2D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2×2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Reduces dimensions before classification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14848"/>
                  </a:ext>
                </a:extLst>
              </a:tr>
              <a:tr h="3293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14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Flatten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1D feature vector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Converts feature maps into a vector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236838"/>
                  </a:ext>
                </a:extLst>
              </a:tr>
              <a:tr h="3293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15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Dense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256 neurons + ReLU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Learns high-level image patterns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103591"/>
                  </a:ext>
                </a:extLst>
              </a:tr>
              <a:tr h="23054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16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Dropout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0.5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Reduces overfitting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405391"/>
                  </a:ext>
                </a:extLst>
              </a:tr>
              <a:tr h="3293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17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Dense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128 neurons + ReLU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Further classification learning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322762"/>
                  </a:ext>
                </a:extLst>
              </a:tr>
              <a:tr h="3293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18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Dropout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0.3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Improves generalization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420486"/>
                  </a:ext>
                </a:extLst>
              </a:tr>
              <a:tr h="3293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19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Output Layer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6 neurons + Softmax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Predicts one of the 6 ball classes</a:t>
                      </a:r>
                    </a:p>
                  </a:txBody>
                  <a:tcPr marL="28334" marR="28334" marT="14167" marB="141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664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762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DEBB-9F76-55A6-0522-7FB5B0318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Compilation &amp; 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6A51E-EAE8-A717-718C-A8C1BA121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4446588" cy="40852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Configured training with:</a:t>
            </a:r>
          </a:p>
          <a:p>
            <a:pPr marL="0" indent="0">
              <a:buNone/>
            </a:pPr>
            <a:r>
              <a:rPr lang="en-US" dirty="0"/>
              <a:t>Optimizer:</a:t>
            </a:r>
          </a:p>
          <a:p>
            <a:pPr marL="0" indent="0">
              <a:buNone/>
            </a:pPr>
            <a:r>
              <a:rPr lang="en-US" dirty="0"/>
              <a:t>Adam updates the weights during training.</a:t>
            </a:r>
          </a:p>
          <a:p>
            <a:pPr marL="0" indent="0">
              <a:buNone/>
            </a:pPr>
            <a:r>
              <a:rPr lang="en-US" dirty="0"/>
              <a:t>It helps the model learn by minimizing error.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Learning Rate 0.0001</a:t>
            </a:r>
          </a:p>
          <a:p>
            <a:pPr marL="0" indent="0">
              <a:buNone/>
            </a:pPr>
            <a:r>
              <a:rPr lang="en-US" dirty="0"/>
              <a:t>Loss Function: Categorical Cross entropy</a:t>
            </a:r>
          </a:p>
          <a:p>
            <a:pPr marL="0" indent="0">
              <a:buNone/>
            </a:pPr>
            <a:r>
              <a:rPr lang="en-US" dirty="0"/>
              <a:t>Metric :Accuracy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6E5ECD-250C-66CB-98AD-4FE7EAF6EBCE}"/>
              </a:ext>
            </a:extLst>
          </p:cNvPr>
          <p:cNvSpPr txBox="1"/>
          <p:nvPr/>
        </p:nvSpPr>
        <p:spPr>
          <a:xfrm>
            <a:off x="5763187" y="2340259"/>
            <a:ext cx="449243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Trained using model. Fit()</a:t>
            </a:r>
          </a:p>
          <a:p>
            <a:r>
              <a:rPr lang="en-US" sz="2800" dirty="0"/>
              <a:t>Validation performed on testing data</a:t>
            </a:r>
          </a:p>
          <a:p>
            <a:r>
              <a:rPr lang="en-US" sz="2800" dirty="0"/>
              <a:t>Training setup: Maximum epochs: 10</a:t>
            </a:r>
          </a:p>
        </p:txBody>
      </p:sp>
    </p:spTree>
    <p:extLst>
      <p:ext uri="{BB962C8B-B14F-4D97-AF65-F5344CB8AC3E}">
        <p14:creationId xmlns:p14="http://schemas.microsoft.com/office/powerpoint/2010/main" val="955238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41A37-7BD4-DA86-61F3-17ECC07F9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 &amp; 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497F-CE17-3B46-3FB6-58268A6CC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Evaluated the model on unseen test images.</a:t>
            </a:r>
          </a:p>
          <a:p>
            <a:pPr marL="0" indent="0">
              <a:buNone/>
            </a:pPr>
            <a:r>
              <a:rPr lang="en-US" b="1" dirty="0"/>
              <a:t>Final Result:</a:t>
            </a:r>
          </a:p>
          <a:p>
            <a:pPr marL="0" indent="0">
              <a:buNone/>
            </a:pPr>
            <a:r>
              <a:rPr lang="en-US" b="1" dirty="0"/>
              <a:t>Test Accuracy = 86%</a:t>
            </a:r>
          </a:p>
          <a:p>
            <a:pPr marL="0" indent="0">
              <a:buNone/>
            </a:pPr>
            <a:r>
              <a:rPr lang="en-US" dirty="0"/>
              <a:t>This means the CNN correctly classified </a:t>
            </a:r>
            <a:r>
              <a:rPr lang="en-US" b="1" dirty="0"/>
              <a:t>86% of test images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181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018E0-AF1D-08E9-3545-F0F388945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DBFB5-CAA0-1BE0-5056-8421107EA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3" y="852186"/>
            <a:ext cx="9905998" cy="819699"/>
          </a:xfrm>
        </p:spPr>
        <p:txBody>
          <a:bodyPr/>
          <a:lstStyle/>
          <a:p>
            <a:r>
              <a:rPr lang="en-US" dirty="0"/>
              <a:t>Model Evaluation &amp; results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8E70EA3-83DE-D935-FE94-6663EFB037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9082" y="1806352"/>
            <a:ext cx="5353349" cy="33797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FEB9CD-935D-E0A5-B16B-C15A6DE9C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07" y="1806352"/>
            <a:ext cx="5664275" cy="337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1252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CD723-21A7-6E78-B29E-06AA35AFE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918E9-0860-91DB-C2DC-B7FAA7195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3" y="852186"/>
            <a:ext cx="9905998" cy="819699"/>
          </a:xfrm>
        </p:spPr>
        <p:txBody>
          <a:bodyPr/>
          <a:lstStyle/>
          <a:p>
            <a:r>
              <a:rPr lang="en-US" dirty="0"/>
              <a:t>Model Evaluation &amp; results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DDA6ABC-2B49-5779-42B1-E7B0F5CD31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8613" y="1436571"/>
            <a:ext cx="5164306" cy="44890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F60328-49CC-725C-F7CA-43D9D3877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556" y="1436571"/>
            <a:ext cx="5428487" cy="287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018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AAA7-15D2-700E-1017-68BBD22C8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6907" y="1013012"/>
            <a:ext cx="9905998" cy="4719917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A Convolutional Neural Network was successfully built entirely from scratch for ball image classification. The model achieved 86% test accuracy across 6 classes. Results show that a custom CNN can perform well without transfer learning, with strongest performance on baseball and tennis ball classification.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8742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{023949BC-B4D9-4589-B57A-8110505C3428}TF6d5feb1e-e145-43f1-b745-cb4b54c5ee975d365c52-ce22229b0e48</Template>
  <TotalTime>394</TotalTime>
  <Words>1256</Words>
  <Application>Microsoft Office PowerPoint</Application>
  <PresentationFormat>Widescreen</PresentationFormat>
  <Paragraphs>264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 Unicode MS</vt:lpstr>
      <vt:lpstr>Arial</vt:lpstr>
      <vt:lpstr>Tw Cen MT</vt:lpstr>
      <vt:lpstr>Circuit</vt:lpstr>
      <vt:lpstr>Classical Image Classification Pipeline </vt:lpstr>
      <vt:lpstr>Project Goal</vt:lpstr>
      <vt:lpstr>Milestone 2 goal</vt:lpstr>
      <vt:lpstr>Dataset Preparation</vt:lpstr>
      <vt:lpstr>Image Preprocessing</vt:lpstr>
      <vt:lpstr>Image Preprocessing</vt:lpstr>
      <vt:lpstr>Feature Extraction</vt:lpstr>
      <vt:lpstr>Feature Combination</vt:lpstr>
      <vt:lpstr>Feature Normalization</vt:lpstr>
      <vt:lpstr>Model Training</vt:lpstr>
      <vt:lpstr>Model Testing</vt:lpstr>
      <vt:lpstr>Performance Evaluation</vt:lpstr>
      <vt:lpstr>Prediction Visualization</vt:lpstr>
      <vt:lpstr>PowerPoint Presentation</vt:lpstr>
      <vt:lpstr>Results </vt:lpstr>
      <vt:lpstr>Results </vt:lpstr>
      <vt:lpstr>Conclusion</vt:lpstr>
      <vt:lpstr>Milestone 3</vt:lpstr>
      <vt:lpstr>Dataset Preparation &amp; Preprocessing</vt:lpstr>
      <vt:lpstr>CNN Model Architecture</vt:lpstr>
      <vt:lpstr>Model Compilation &amp; Model Training</vt:lpstr>
      <vt:lpstr>Model Evaluation &amp; results </vt:lpstr>
      <vt:lpstr>Model Evaluation &amp; results </vt:lpstr>
      <vt:lpstr>Model Evaluation &amp; results </vt:lpstr>
      <vt:lpstr> A Convolutional Neural Network was successfully built entirely from scratch for ball image classification. The model achieved 86% test accuracy across 6 classes. Results show that a custom CNN can perform well without transfer learning, with strongest performance on baseball and tennis ball classification.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Tarek Hammad</dc:creator>
  <cp:lastModifiedBy>Omar Tarek Hammad</cp:lastModifiedBy>
  <cp:revision>3</cp:revision>
  <dcterms:created xsi:type="dcterms:W3CDTF">2026-05-23T11:20:24Z</dcterms:created>
  <dcterms:modified xsi:type="dcterms:W3CDTF">2026-05-24T08:47:50Z</dcterms:modified>
</cp:coreProperties>
</file>